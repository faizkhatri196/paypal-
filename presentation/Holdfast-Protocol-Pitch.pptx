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Segoe UI"/>
              </a:defRPr>
            </a:pPr>
            <a:r>
              <a:t>HOLDFAST PROTOCOL</a:t>
            </a:r>
          </a:p>
          <a:p>
            <a:pPr>
              <a:spcAft>
                <a:spcPts val="2400"/>
              </a:spcAft>
              <a:defRPr sz="2200" b="1">
                <a:solidFill>
                  <a:srgbClr val="38BDF8"/>
                </a:solidFill>
                <a:latin typeface="Segoe UI"/>
              </a:defRPr>
            </a:pPr>
            <a:r>
              <a:t>Trustworthy Payment Decisions for AI-Powered Commerce</a:t>
            </a:r>
          </a:p>
          <a:p>
            <a:pPr>
              <a:spcAft>
                <a:spcPts val="36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A dual-gate verification pipeline and non-custodial PayPal authorization layer</a:t>
            </a:r>
            <a:br/>
            <a:r>
              <a:t>that ensures digital deliverables satisfy agreed acceptance criteria before funds move.</a:t>
            </a:r>
          </a:p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• PayPal Orders v2 &amp; Payments v2    • Model Context Protocol (MCP)    • Deterministic Gate 1 &amp; Adversarial Gate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Segoe UI"/>
              </a:defRPr>
            </a:pPr>
            <a:r>
              <a:t>HOLDFAST PROTOCOL</a:t>
            </a:r>
          </a:p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The Bilateral Trust Deficit in Autonomous Commerce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EF4444"/>
                </a:solidFill>
              </a:defRPr>
            </a:pPr>
            <a:r>
              <a:t>RISK 1: PAYING UPFRONT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100% Capital Loss Risk: Autonomous agents can crash, hallucinate, or return corrupt data.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Malformed Deliverables: Missing schema keys or broken formats leave buyer with unusable work.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Adversarial Prompt Injection: Malicious worker agents can inject instruction overrides.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Unrecoverable Funds: Traditional payment disputes take weeks of human review.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F59E0B"/>
                </a:solidFill>
              </a:defRPr>
            </a:pPr>
            <a:r>
              <a:t>RISK 2: DELIVERING UPFRONT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100% Payment Default Risk: Buyer agents can exhaust tokens, terminate, or refuse to pay.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Uncompensated Compute: High-cost model inference and scraping compute are absorbed by worker.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No Solvency Guarantee: Worker has zero cryptographic proof that buyer has sufficient funds.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Existing Wallets Fall Short: Virtual cards let agents spend, but never verify delivery quality.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Segoe UI"/>
              </a:defRPr>
            </a:pPr>
            <a:r>
              <a:t>HOLDFAST PROTOCOL</a:t>
            </a:r>
          </a:p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The Holdfast Dual-Gate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6032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7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 b="1">
                <a:solidFill>
                  <a:srgbClr val="0070BA"/>
                </a:solidFill>
              </a:defRPr>
            </a:pPr>
            <a:r>
              <a:t>1. AGREEMENT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Buyer &amp; Worker define schema, required keys &amp; tranche budget.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011680"/>
            <a:ext cx="256032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 b="1">
                <a:solidFill>
                  <a:srgbClr val="F59E0B"/>
                </a:solidFill>
              </a:defRPr>
            </a:pPr>
            <a:r>
              <a:t>2. PROTECTION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PayPal Orders v2 creates non-custodial authorization hold.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256032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 b="1">
                <a:solidFill>
                  <a:srgbClr val="38BDF8"/>
                </a:solidFill>
              </a:defRPr>
            </a:pPr>
            <a:r>
              <a:t>3. DUAL-GATE AUDIT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Gate 1: Deterministic Rules</a:t>
            </a:r>
            <a:br/>
            <a:r>
              <a:t>Gate 2: Gemini Flash AI Veto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2011680"/>
            <a:ext cx="256032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 b="1">
                <a:solidFill>
                  <a:srgbClr val="10B981"/>
                </a:solidFill>
              </a:defRPr>
            </a:pPr>
            <a:r>
              <a:t>4. SETTLEMENT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PayPal Payments v2 captures tranche + signs HMAC-SHA256 receipt.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Segoe UI"/>
              </a:defRPr>
            </a:pPr>
            <a:r>
              <a:t>HOLDFAST PROTOCOL</a:t>
            </a:r>
          </a:p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Live Proof &amp; Verifiable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7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70BA"/>
                </a:solidFill>
              </a:defRPr>
            </a:pPr>
            <a:r>
              <a:t>Interactive Web Dashboard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Real React 19 UI tracking live financial states: Funds Protected ($35.00), Payments Completed ($1.00), and Action Required with interactive contract inspection.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2578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PayPal Developer Platform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Live Orders v2 authorization creation (intent: AUTHORIZE) with incremental Payments v2 tranche captures and remainder voiding.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77639"/>
            <a:ext cx="52578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Tamper-Evident HMAC Receipts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Canonical JSON serialization signed with SHA-256. 1-byte payload modification triggers instant signature verification failure.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977639"/>
            <a:ext cx="52578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21/21 Automated Tests Passing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Vitest suites verifying money invariants, hash determinism, and proof-suite defense across all edge cases in 2.34s.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Segoe UI"/>
              </a:defRPr>
            </a:pPr>
            <a:r>
              <a:t>HOLDFAST PROTOCOL</a:t>
            </a:r>
          </a:p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Why Holdfast Protocol Is Different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600"/>
              </a:spcAft>
              <a:defRPr sz="1600" b="1">
                <a:solidFill>
                  <a:srgbClr val="38BDF8"/>
                </a:solidFill>
              </a:defRPr>
            </a:pPr>
            <a:r>
              <a:t>CLEAN SEPARATION OF CONCERNS: AI EVALUATES, CODE GOVERNS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✓ Financial Authority: Only deterministic Gate 1 can approve release of funds. The AI model has ZERO financial authority.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✓ Adversarial Defense: Gate 2 uses Gemini Flash strictly as a VETO against prompt injection and jailbreak attempts.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✓ Real Fiat Rail: Settles on PayPal authorization holds rather than volatile crypto tokens or unverified virtual debit cards.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✓ Cryptographic Auditability: Every approved transaction produces an HMAC-SHA256 receipt for dispute resolution evidence.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✓ Agent Interoperability: Native Model Context Protocol (MCP) server allows any autonomous agent framework to interact programmatically.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Segoe UI"/>
              </a:defRPr>
            </a:pPr>
            <a:r>
              <a:t>HOLDFAST PROTOCOL</a:t>
            </a:r>
          </a:p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Target Audience, Practical Value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10B981"/>
                </a:solidFill>
              </a:defRPr>
            </a:pPr>
            <a:r>
              <a:t>WHO NEEDS THIS TODAY?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E-Commerce Brands: Delegating price monitoring, scraping, and catalog ingestion to autonomous worker agents.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Software Engineering Teams: Hiring AI swarms for pull request security audits and performance testing.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Digital Freelance Platforms: Automated escrow-style milestone verification for digital deliverables.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7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0070BA"/>
                </a:solidFill>
              </a:defRPr>
            </a:pPr>
            <a:r>
              <a:t>DISCLOSED LIMITATIONS &amp; NEXT STEPS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29-Day Hold Window: PayPal authorization holds expire after 29 days; transactions settle within this window.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Worker Settlement: Currently settles into merchant balance; dual-ended payout requires PayPal Payouts SDK.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Non-Custodial Architecture: Software-enforced authorization holds under card network rules, not banking escrow.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Next Step: Native integration with LangChain, CrewAI, and AutoGen tool ecosystems via MCP.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